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54136907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M Hemanth</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2023cse.r229@svce.edu.in</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8790784006</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043296" y="3683879"/>
            <a:ext cx="792159" cy="1029026"/>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Rag based Agent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[Interview Trainer Agent ]</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pPr marL="342900" indent="-342900">
              <a:buFont typeface="Arial" panose="020B0604020202020204" pitchFamily="34" charset="0"/>
              <a:buChar char="•"/>
            </a:pPr>
            <a:r>
              <a:rPr lang="en-US" sz="2000" dirty="0"/>
              <a:t>Problem Statement No.22 – </a:t>
            </a:r>
            <a:r>
              <a:rPr lang="en-US" sz="2000" dirty="0">
                <a:highlight>
                  <a:srgbClr val="FFFF00"/>
                </a:highlight>
              </a:rPr>
              <a:t>Interview Trainer Agent  </a:t>
            </a:r>
          </a:p>
          <a:p>
            <a:pPr marL="342900" indent="-342900">
              <a:buFont typeface="Arial" panose="020B0604020202020204" pitchFamily="34" charset="0"/>
              <a:buChar char="•"/>
            </a:pPr>
            <a:r>
              <a:rPr lang="en-US" sz="2000" dirty="0"/>
              <a:t>The Challenge – An Interview Trainer Agent, powered by RAG (Retrieval-Augmented Generation), prepares users for job interviews by generating tailored question sets and preparation strategies based on their profile name, experience level, and job role.</a:t>
            </a:r>
          </a:p>
          <a:p>
            <a:pPr marL="342900" indent="-342900">
              <a:buFont typeface="Arial" panose="020B0604020202020204" pitchFamily="34" charset="0"/>
              <a:buChar char="•"/>
            </a:pPr>
            <a:r>
              <a:rPr lang="en-US" sz="2000" dirty="0"/>
              <a:t> It retrieves role-specific interview questions, industry expectations, behavioral scenarios, and HR guidelines from recruitment portals, professional networks, and company interview databases. </a:t>
            </a:r>
          </a:p>
          <a:p>
            <a:pPr marL="342900" indent="-342900">
              <a:buFont typeface="Arial" panose="020B0604020202020204" pitchFamily="34" charset="0"/>
              <a:buChar char="•"/>
            </a:pPr>
            <a:r>
              <a:rPr lang="en-US" sz="2000" dirty="0"/>
              <a:t>Users can input their resume or job title, and the agent provides targeted questions, model answers, and improvement tips.</a:t>
            </a:r>
          </a:p>
          <a:p>
            <a:pPr marL="342900" indent="-342900">
              <a:buFont typeface="Arial" panose="020B0604020202020204" pitchFamily="34" charset="0"/>
              <a:buChar char="•"/>
            </a:pPr>
            <a:r>
              <a:rPr lang="en-US" sz="2000" dirty="0"/>
              <a:t> It supports both technical and soft skill assessment, ensuring a comprehensive interview prep experience. </a:t>
            </a:r>
          </a:p>
          <a:p>
            <a:pPr marL="342900" indent="-342900">
              <a:buFont typeface="Arial" panose="020B0604020202020204" pitchFamily="34" charset="0"/>
              <a:buChar char="•"/>
            </a:pPr>
            <a:r>
              <a:rPr lang="en-US" sz="2000" dirty="0"/>
              <a:t>This AI-driven assistant builds user confidence, sharpens responses, and increases success rates in competitive hiring environments. </a:t>
            </a:r>
          </a:p>
          <a:p>
            <a:pPr marL="342900" indent="-342900">
              <a:buFont typeface="Arial" panose="020B0604020202020204" pitchFamily="34" charset="0"/>
              <a:buChar char="•"/>
            </a:pPr>
            <a:r>
              <a:rPr lang="en-US" sz="2000" dirty="0"/>
              <a:t>Technology – Use of IBM Cloud Lite services / IBM Granite is mandatory. </a:t>
            </a:r>
            <a:endParaRPr lang="en-IN" sz="20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524315"/>
          </a:xfrm>
          <a:prstGeom prst="rect">
            <a:avLst/>
          </a:prstGeom>
          <a:noFill/>
        </p:spPr>
        <p:txBody>
          <a:bodyPr wrap="square" rtlCol="0">
            <a:spAutoFit/>
          </a:bodyPr>
          <a:lstStyle/>
          <a:p>
            <a:r>
              <a:rPr lang="en-US" sz="1600" b="1" dirty="0"/>
              <a:t>Proposed Solution - </a:t>
            </a:r>
            <a:r>
              <a:rPr lang="en-US" sz="1600" dirty="0">
                <a:highlight>
                  <a:srgbClr val="FFFF00"/>
                </a:highlight>
              </a:rPr>
              <a:t>AI-Powered Interview Trainer Agent</a:t>
            </a:r>
            <a:endParaRPr lang="en-US" sz="1600" dirty="0"/>
          </a:p>
          <a:p>
            <a:r>
              <a:rPr lang="en-US" sz="1600" dirty="0"/>
              <a:t>The proposed solution is an AI-powered Interview Trainer Agent built using </a:t>
            </a:r>
            <a:r>
              <a:rPr lang="en-US" sz="1600" b="1" dirty="0"/>
              <a:t>IBM watsonx.ai, IBM Granite Models</a:t>
            </a:r>
            <a:r>
              <a:rPr lang="en-US" sz="1600" dirty="0"/>
              <a:t>, </a:t>
            </a:r>
            <a:r>
              <a:rPr lang="en-US" sz="1600" b="1" dirty="0"/>
              <a:t>and IBM Cloud Lite </a:t>
            </a:r>
            <a:r>
              <a:rPr lang="en-US" sz="1600" dirty="0"/>
              <a:t>services to help students prepare for job interviews. The agent gives personalized interview questions and preparation tips based on the user's resume, skills, experience, and job role.</a:t>
            </a:r>
          </a:p>
          <a:p>
            <a:r>
              <a:rPr lang="en-US" sz="1600" dirty="0"/>
              <a:t>The system </a:t>
            </a:r>
            <a:r>
              <a:rPr lang="en-US" sz="1600" b="1" dirty="0"/>
              <a:t>uses Retrieval-Augmented Generation (RAG) </a:t>
            </a:r>
            <a:r>
              <a:rPr lang="en-US" sz="1600" dirty="0"/>
              <a:t>to retrieve useful interview information from trusted sources such as recruitment portals, job descriptions, and interview databases. IBM Granite models then use this information to generate relevant questions and answers.</a:t>
            </a:r>
          </a:p>
          <a:p>
            <a:r>
              <a:rPr lang="en-US" sz="1600" dirty="0"/>
              <a:t>The system consists of four key features:</a:t>
            </a:r>
          </a:p>
          <a:p>
            <a:r>
              <a:rPr lang="en-US" sz="1600" dirty="0"/>
              <a:t>Resume Analyzer checks the user's resume, skills, and experience.</a:t>
            </a:r>
          </a:p>
          <a:p>
            <a:r>
              <a:rPr lang="en-US" sz="1600" dirty="0"/>
              <a:t>Question Generator creates technical, HR, and behavioral interview questions based on the user's profile.</a:t>
            </a:r>
          </a:p>
          <a:p>
            <a:r>
              <a:rPr lang="en-US" sz="1600" b="1" dirty="0"/>
              <a:t>Mock Interview </a:t>
            </a:r>
            <a:r>
              <a:rPr lang="en-US" sz="1600" dirty="0"/>
              <a:t>Agent conducts practice interviews and evaluates the user's answers.</a:t>
            </a:r>
          </a:p>
          <a:p>
            <a:r>
              <a:rPr lang="en-US" sz="1600" dirty="0"/>
              <a:t>Feedback Agent identifies mistakes and provides improvement tips for better performance.</a:t>
            </a:r>
          </a:p>
          <a:p>
            <a:r>
              <a:rPr lang="en-US" sz="1600" dirty="0"/>
              <a:t>A simple dashboard allows users to upload their resume, select a job role, practice </a:t>
            </a:r>
            <a:r>
              <a:rPr lang="en-US" sz="1600" b="1" dirty="0"/>
              <a:t>interviews,</a:t>
            </a:r>
            <a:r>
              <a:rPr lang="en-US" sz="1600" dirty="0"/>
              <a:t> view feedback, and track their progress.</a:t>
            </a:r>
          </a:p>
          <a:p>
            <a:r>
              <a:rPr lang="en-US" sz="1600" b="1" dirty="0"/>
              <a:t>IBM watsonx</a:t>
            </a:r>
            <a:r>
              <a:rPr lang="en-US" sz="1600" dirty="0"/>
              <a:t>.ai manages the AI workflow and </a:t>
            </a:r>
            <a:r>
              <a:rPr lang="en-US" sz="1600" b="1" dirty="0"/>
              <a:t>RAG</a:t>
            </a:r>
            <a:r>
              <a:rPr lang="en-US" sz="1600" dirty="0"/>
              <a:t> process, while IBM Granite models are used for question generation, answer evaluation, and personalized feedback.</a:t>
            </a:r>
          </a:p>
          <a:p>
            <a:r>
              <a:rPr lang="en-US" sz="1600" dirty="0"/>
              <a:t>Overall, the solution provides an easy-to-use AI interview assistant that helps users practice effectively, improve their skills, and build confidence for real job interviews.</a:t>
            </a:r>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32202"/>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1332F3F-EEF3-260F-52BA-62370775058E}"/>
              </a:ext>
            </a:extLst>
          </p:cNvPr>
          <p:cNvPicPr>
            <a:picLocks noChangeAspect="1"/>
          </p:cNvPicPr>
          <p:nvPr/>
        </p:nvPicPr>
        <p:blipFill>
          <a:blip r:embed="rId3"/>
          <a:srcRect/>
          <a:stretch/>
        </p:blipFill>
        <p:spPr>
          <a:xfrm>
            <a:off x="930880" y="927556"/>
            <a:ext cx="10028385" cy="5207851"/>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26AE77B4-704A-3A83-DF19-A19BAD53F97B}"/>
              </a:ext>
            </a:extLst>
          </p:cNvPr>
          <p:cNvPicPr>
            <a:picLocks noChangeAspect="1"/>
          </p:cNvPicPr>
          <p:nvPr/>
        </p:nvPicPr>
        <p:blipFill>
          <a:blip r:embed="rId3"/>
          <a:stretch>
            <a:fillRect/>
          </a:stretch>
        </p:blipFill>
        <p:spPr>
          <a:xfrm>
            <a:off x="1070124" y="862241"/>
            <a:ext cx="10051752" cy="5319357"/>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rcRect/>
          <a:stretch/>
        </p:blipFill>
        <p:spPr>
          <a:xfrm>
            <a:off x="318893" y="400546"/>
            <a:ext cx="10822279"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6697535D-EBF5-41DE-E93B-760133BF95C6}"/>
              </a:ext>
            </a:extLst>
          </p:cNvPr>
          <p:cNvPicPr>
            <a:picLocks noChangeAspect="1"/>
          </p:cNvPicPr>
          <p:nvPr/>
        </p:nvPicPr>
        <p:blipFill>
          <a:blip r:embed="rId3"/>
          <a:srcRect/>
          <a:stretch/>
        </p:blipFill>
        <p:spPr>
          <a:xfrm>
            <a:off x="1372607" y="1177772"/>
            <a:ext cx="9978974" cy="5233418"/>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539430"/>
          </a:xfrm>
          <a:prstGeom prst="rect">
            <a:avLst/>
          </a:prstGeom>
          <a:noFill/>
        </p:spPr>
        <p:txBody>
          <a:bodyPr wrap="square" rtlCol="0">
            <a:spAutoFit/>
          </a:bodyPr>
          <a:lstStyle/>
          <a:p>
            <a:r>
              <a:rPr lang="en-US" b="1" dirty="0"/>
              <a:t>Role of Agentic AI </a:t>
            </a:r>
            <a:r>
              <a:rPr lang="en-US" dirty="0"/>
              <a:t>in </a:t>
            </a:r>
            <a:r>
              <a:rPr lang="en-US" dirty="0">
                <a:highlight>
                  <a:srgbClr val="FFFF00"/>
                </a:highlight>
              </a:rPr>
              <a:t>Interview Trainer Agent</a:t>
            </a:r>
          </a:p>
          <a:p>
            <a:endParaRPr lang="en-US" dirty="0"/>
          </a:p>
          <a:p>
            <a:r>
              <a:rPr lang="en-US" dirty="0"/>
              <a:t>Agentic AI enables the Interview Trainer Agent to work as an intelligent system rather than a simple chatbot. Using </a:t>
            </a:r>
            <a:r>
              <a:rPr lang="en-US" b="1" dirty="0"/>
              <a:t>IBM watsonx</a:t>
            </a:r>
            <a:r>
              <a:rPr lang="en-US" dirty="0"/>
              <a:t>.ai and IBM </a:t>
            </a:r>
            <a:r>
              <a:rPr lang="en-US" b="1" dirty="0"/>
              <a:t>Granite Models</a:t>
            </a:r>
            <a:r>
              <a:rPr lang="en-US" dirty="0"/>
              <a:t>, it provides personalized interview guidance based on the user's resume, skills, experience, and job role.</a:t>
            </a:r>
          </a:p>
          <a:p>
            <a:endParaRPr lang="en-US" dirty="0"/>
          </a:p>
          <a:p>
            <a:r>
              <a:rPr lang="en-US" dirty="0"/>
              <a:t>The system uses </a:t>
            </a:r>
            <a:r>
              <a:rPr lang="en-US" b="1" dirty="0"/>
              <a:t>multiple agents </a:t>
            </a:r>
            <a:r>
              <a:rPr lang="en-US" dirty="0"/>
              <a:t>to perform different tasks. One agent analyzes the resume, another generates interview questions, another conducts mock interviews, and another provides feedback on the user's answers.</a:t>
            </a:r>
          </a:p>
          <a:p>
            <a:endParaRPr lang="en-US" dirty="0"/>
          </a:p>
          <a:p>
            <a:r>
              <a:rPr lang="en-US" b="1" dirty="0"/>
              <a:t>Agentic AI </a:t>
            </a:r>
            <a:r>
              <a:rPr lang="en-US" dirty="0"/>
              <a:t>also provides context awareness by understanding the user's experience level, skills, and target job role. It can adapt the questions based on the user's answers and provide </a:t>
            </a:r>
            <a:r>
              <a:rPr lang="en-US" b="1" dirty="0"/>
              <a:t>real-time feedback.</a:t>
            </a:r>
          </a:p>
          <a:p>
            <a:endParaRPr lang="en-US" dirty="0"/>
          </a:p>
          <a:p>
            <a:r>
              <a:rPr lang="en-US" dirty="0"/>
              <a:t>Overall, Agentic AI makes the Interview Trainer Agent personalized and interactive, helping users improve their </a:t>
            </a:r>
            <a:r>
              <a:rPr lang="en-US" b="1" dirty="0"/>
              <a:t>interview skills</a:t>
            </a:r>
            <a:r>
              <a:rPr lang="en-US" dirty="0"/>
              <a:t>, confidence, and chances of success.</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0 token are used</a:t>
            </a:r>
          </a:p>
        </p:txBody>
      </p:sp>
      <p:pic>
        <p:nvPicPr>
          <p:cNvPr id="12" name="Picture 11">
            <a:extLst>
              <a:ext uri="{FF2B5EF4-FFF2-40B4-BE49-F238E27FC236}">
                <a16:creationId xmlns:a16="http://schemas.microsoft.com/office/drawing/2014/main" id="{3E29AF1D-88C4-87E5-74DF-4E97121E06CE}"/>
              </a:ext>
            </a:extLst>
          </p:cNvPr>
          <p:cNvPicPr>
            <a:picLocks noChangeAspect="1"/>
          </p:cNvPicPr>
          <p:nvPr/>
        </p:nvPicPr>
        <p:blipFill>
          <a:blip r:embed="rId3"/>
          <a:srcRect/>
          <a:stretch/>
        </p:blipFill>
        <p:spPr>
          <a:xfrm>
            <a:off x="114240" y="2462536"/>
            <a:ext cx="5289033" cy="2698975"/>
          </a:xfrm>
          <a:prstGeom prst="rect">
            <a:avLst/>
          </a:prstGeom>
        </p:spPr>
      </p:pic>
      <p:pic>
        <p:nvPicPr>
          <p:cNvPr id="13" name="Picture 12">
            <a:extLst>
              <a:ext uri="{FF2B5EF4-FFF2-40B4-BE49-F238E27FC236}">
                <a16:creationId xmlns:a16="http://schemas.microsoft.com/office/drawing/2014/main" id="{C81444F5-0692-DD67-1759-70821E53B029}"/>
              </a:ext>
            </a:extLst>
          </p:cNvPr>
          <p:cNvPicPr>
            <a:picLocks noChangeAspect="1"/>
          </p:cNvPicPr>
          <p:nvPr/>
        </p:nvPicPr>
        <p:blipFill>
          <a:blip r:embed="rId4"/>
          <a:srcRect/>
          <a:stretch/>
        </p:blipFill>
        <p:spPr>
          <a:xfrm>
            <a:off x="6284378" y="2462536"/>
            <a:ext cx="5474970" cy="2698975"/>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rcRect/>
          <a:stretch/>
        </p:blipFill>
        <p:spPr>
          <a:xfrm>
            <a:off x="600199" y="885593"/>
            <a:ext cx="10781763"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rcRect/>
          <a:stretch/>
        </p:blipFill>
        <p:spPr>
          <a:xfrm>
            <a:off x="841471" y="1004536"/>
            <a:ext cx="9933903"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rcRect/>
          <a:stretch/>
        </p:blipFill>
        <p:spPr>
          <a:xfrm>
            <a:off x="804493" y="955552"/>
            <a:ext cx="10583014" cy="5633964"/>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832092"/>
          </a:xfrm>
          <a:prstGeom prst="rect">
            <a:avLst/>
          </a:prstGeom>
          <a:noFill/>
        </p:spPr>
        <p:txBody>
          <a:bodyPr wrap="square" rtlCol="0">
            <a:spAutoFit/>
          </a:bodyPr>
          <a:lstStyle/>
          <a:p>
            <a:r>
              <a:rPr lang="en-US" dirty="0"/>
              <a:t>The proposed Interview Trainer Agent stands out by combining </a:t>
            </a:r>
            <a:r>
              <a:rPr lang="en-US" b="1" dirty="0"/>
              <a:t>Agentic A</a:t>
            </a:r>
            <a:r>
              <a:rPr lang="en-US" dirty="0"/>
              <a:t>I, </a:t>
            </a:r>
            <a:r>
              <a:rPr lang="en-US" b="1" dirty="0"/>
              <a:t>RAG</a:t>
            </a:r>
            <a:r>
              <a:rPr lang="en-US" dirty="0"/>
              <a:t>, and personalization into a single intelligent interview preparation system.</a:t>
            </a:r>
          </a:p>
          <a:p>
            <a:endParaRPr lang="en-US" dirty="0"/>
          </a:p>
          <a:p>
            <a:r>
              <a:rPr lang="en-US" b="1" dirty="0"/>
              <a:t>Multi-Agent Intelligence </a:t>
            </a:r>
            <a:r>
              <a:rPr lang="en-US" dirty="0"/>
              <a:t>– Uses multiple specialized agents to analyze resumes, generate questions, conduct mock interviews, and provide feedback.</a:t>
            </a:r>
          </a:p>
          <a:p>
            <a:endParaRPr lang="en-US" dirty="0"/>
          </a:p>
          <a:p>
            <a:r>
              <a:rPr lang="en-US" b="1" dirty="0"/>
              <a:t>RAG-Based Accuracy </a:t>
            </a:r>
            <a:r>
              <a:rPr lang="en-US" dirty="0"/>
              <a:t>– Retrieves relevant interview information and combines it with AI generation to provide accurate and useful questions.</a:t>
            </a:r>
          </a:p>
          <a:p>
            <a:endParaRPr lang="en-US" dirty="0"/>
          </a:p>
          <a:p>
            <a:r>
              <a:rPr lang="en-US" b="1" dirty="0"/>
              <a:t>Personalized Preparation </a:t>
            </a:r>
            <a:r>
              <a:rPr lang="en-US" dirty="0"/>
              <a:t>– Tailors interview questions and preparation strategies based on the user's profile, experience level, skills, and job role.</a:t>
            </a:r>
          </a:p>
          <a:p>
            <a:endParaRPr lang="en-US" dirty="0"/>
          </a:p>
          <a:p>
            <a:r>
              <a:rPr lang="en-US" b="1" dirty="0"/>
              <a:t>Real-Time Feedback Loop </a:t>
            </a:r>
            <a:r>
              <a:rPr lang="en-US" dirty="0"/>
              <a:t>– Analyzes the user's answers and continuously provides suggestions to improve interview performance.</a:t>
            </a:r>
          </a:p>
          <a:p>
            <a:endParaRPr lang="en-US" dirty="0"/>
          </a:p>
          <a:p>
            <a:r>
              <a:rPr lang="en-US" b="1" dirty="0"/>
              <a:t>Technical &amp; Soft Skills </a:t>
            </a:r>
            <a:r>
              <a:rPr lang="en-US" dirty="0"/>
              <a:t>– Evaluates both technical knowledge and communication skills through different types of interview questions.</a:t>
            </a:r>
          </a:p>
          <a:p>
            <a:endParaRPr lang="en-US" dirty="0"/>
          </a:p>
          <a:p>
            <a:r>
              <a:rPr lang="en-US" b="1" dirty="0"/>
              <a:t>Adaptive Mock Interviews </a:t>
            </a:r>
            <a:r>
              <a:rPr lang="en-US" dirty="0"/>
              <a:t>– Changes the difficulty and type of questions based on the user's performance during the practice interview.</a:t>
            </a:r>
          </a:p>
          <a:p>
            <a:endParaRPr lang="en-US" dirty="0"/>
          </a:p>
          <a:p>
            <a:r>
              <a:rPr lang="en-US" b="1" dirty="0"/>
              <a:t>IBM Granite Integration </a:t>
            </a:r>
            <a:r>
              <a:rPr lang="en-US" dirty="0"/>
              <a:t>– Uses IBM Granite models with IBM watsonx.ai to generate questions, evaluate answers, and provide personalized feedback.</a:t>
            </a:r>
          </a:p>
          <a:p>
            <a:endParaRPr lang="en-US" dirty="0"/>
          </a:p>
          <a:p>
            <a:r>
              <a:rPr lang="en-US" dirty="0"/>
              <a:t>This makes the solution a smart, adaptive, and personalized interview trainer, rather than just a static question-and-answer chatbot.</a:t>
            </a:r>
            <a:endParaRPr lang="en-IN"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dirty="0">
                <a:solidFill>
                  <a:srgbClr val="2B3541"/>
                </a:solidFill>
                <a:highlight>
                  <a:srgbClr val="FFFF00"/>
                </a:highlight>
                <a:latin typeface="Times New Roman"/>
                <a:ea typeface="Times New Roman"/>
                <a:cs typeface="Times New Roman"/>
                <a:sym typeface="Times New Roman"/>
              </a:rPr>
              <a:t>https://github.com/hemanthmallarapu275-code/AI-Interview-Trainer-Agent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Wingdings" panose="05000000000000000000" pitchFamily="2" charset="2"/>
              <a:buChar char="q"/>
            </a:pPr>
            <a:r>
              <a:rPr lang="en-US" sz="1850" b="1" dirty="0">
                <a:latin typeface="+mj-lt"/>
                <a:ea typeface="Times New Roman"/>
                <a:cs typeface="Times New Roman"/>
                <a:sym typeface="Times New Roman"/>
              </a:rPr>
              <a:t>Integration with Wearables &amp; Health Data</a:t>
            </a:r>
          </a:p>
          <a:p>
            <a:pPr lvl="0">
              <a:lnSpc>
                <a:spcPct val="162162"/>
              </a:lnSpc>
              <a:buClr>
                <a:srgbClr val="2B3541"/>
              </a:buClr>
              <a:buSzPts val="1850"/>
            </a:pPr>
            <a:r>
              <a:rPr lang="en-US" sz="1850" dirty="0">
                <a:latin typeface="Times New Roman"/>
                <a:ea typeface="Times New Roman"/>
                <a:cs typeface="Times New Roman"/>
                <a:sym typeface="Times New Roman"/>
              </a:rPr>
              <a:t>The system can be integrated with wearable devices and health platforms to collect information such as activity levels, sleep patterns, and heart rate. This can help provide more accurate and personalized interview preparation recommendations based on the user's performance and progress.</a:t>
            </a:r>
          </a:p>
          <a:p>
            <a:pPr marL="342900" lvl="0" indent="-342900">
              <a:lnSpc>
                <a:spcPct val="162162"/>
              </a:lnSpc>
              <a:buClr>
                <a:srgbClr val="2B3541"/>
              </a:buClr>
              <a:buSzPts val="1850"/>
              <a:buFont typeface="Wingdings" panose="05000000000000000000" pitchFamily="2" charset="2"/>
              <a:buChar char="q"/>
            </a:pPr>
            <a:r>
              <a:rPr lang="en-US" sz="1850" b="1" dirty="0">
                <a:latin typeface="+mj-lt"/>
                <a:ea typeface="Times New Roman"/>
                <a:cs typeface="Times New Roman"/>
                <a:sym typeface="Times New Roman"/>
              </a:rPr>
              <a:t>AI-Powered Voice Assistant &amp; Interview Simulator</a:t>
            </a:r>
          </a:p>
          <a:p>
            <a:pPr lvl="0">
              <a:lnSpc>
                <a:spcPct val="162162"/>
              </a:lnSpc>
              <a:buClr>
                <a:srgbClr val="2B3541"/>
              </a:buClr>
              <a:buSzPts val="1850"/>
            </a:pPr>
            <a:r>
              <a:rPr lang="en-US" sz="1850" dirty="0">
                <a:latin typeface="Times New Roman"/>
                <a:ea typeface="Times New Roman"/>
                <a:cs typeface="Times New Roman"/>
                <a:sym typeface="Times New Roman"/>
              </a:rPr>
              <a:t>The system can be enhanced with a voice-based interview simulator for real-time practice. Users can answer questions through voice, and the agent can analyze their communication, confidence, and response quality to provide useful improvement suggestions.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R="0" lvl="0" algn="l" rtl="0">
              <a:lnSpc>
                <a:spcPct val="162162"/>
              </a:lnSpc>
              <a:spcBef>
                <a:spcPts val="0"/>
              </a:spcBef>
              <a:spcAft>
                <a:spcPts val="0"/>
              </a:spcAft>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F15DA14A-7185-A5DB-EE3A-D2064DE1664F}"/>
              </a:ext>
            </a:extLst>
          </p:cNvPr>
          <p:cNvPicPr>
            <a:picLocks noChangeAspect="1"/>
          </p:cNvPicPr>
          <p:nvPr/>
        </p:nvPicPr>
        <p:blipFill>
          <a:blip r:embed="rId2"/>
          <a:srcRect/>
          <a:stretch/>
        </p:blipFill>
        <p:spPr>
          <a:xfrm>
            <a:off x="2398608" y="1367169"/>
            <a:ext cx="6986990" cy="5246809"/>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84204FF3-2A42-FEA3-B765-140759395BD2}"/>
              </a:ext>
            </a:extLst>
          </p:cNvPr>
          <p:cNvPicPr>
            <a:picLocks noChangeAspect="1"/>
          </p:cNvPicPr>
          <p:nvPr/>
        </p:nvPicPr>
        <p:blipFill>
          <a:blip r:embed="rId2"/>
          <a:srcRect/>
          <a:stretch/>
        </p:blipFill>
        <p:spPr>
          <a:xfrm>
            <a:off x="3565194" y="1774659"/>
            <a:ext cx="4738659" cy="2994692"/>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1271</Words>
  <Application>Microsoft Office PowerPoint</Application>
  <PresentationFormat>Widescreen</PresentationFormat>
  <Paragraphs>122</Paragraphs>
  <Slides>20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Hemanth M</cp:lastModifiedBy>
  <cp:revision>7</cp:revision>
  <dcterms:created xsi:type="dcterms:W3CDTF">2025-07-08T05:06:56Z</dcterms:created>
  <dcterms:modified xsi:type="dcterms:W3CDTF">2026-09-11T14:34:34Z</dcterms:modified>
</cp:coreProperties>
</file>